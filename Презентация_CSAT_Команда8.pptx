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66" r:id="rId21"/>
    <p:sldId id="259" r:id="rId9"/>
    <p:sldId id="260" r:id="rId10"/>
    <p:sldId id="267" r:id="rId22"/>
    <p:sldId id="268" r:id="rId23"/>
    <p:sldId id="265" r:id="rId15"/>
  </p:sldIdLst>
  <p:sldSz cy="5040000" cx="9000000"/>
  <p:notesSz cx="6858000" cy="9144000"/>
  <p:embeddedFontLst>
    <p:embeddedFont>
      <p:font typeface="Montserrat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  <p:ext uri="GoogleSlidesCustomDataVersion2">
      <go:slidesCustomData xmlns:go="http://customooxmlschemas.google.com/" r:id="rId20" roundtripDataSignature="AMtx7mjolwsOvHVWzx2DO4GooPe/aFWZ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9"/>
        <p:guide pos="3028" orient="horz"/>
        <p:guide pos="534" orient="horz"/>
        <p:guide pos="843" orient="horz"/>
        <p:guide pos="283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font" Target="fonts/Montserrat-regular.fntdata"/><Relationship Id="rId17" Type="http://schemas.openxmlformats.org/officeDocument/2006/relationships/font" Target="fonts/Montserrat-bold.fntdata"/><Relationship Id="rId18" Type="http://schemas.openxmlformats.org/officeDocument/2006/relationships/font" Target="fonts/Montserrat-italic.fntdata"/><Relationship Id="rId19" Type="http://schemas.openxmlformats.org/officeDocument/2006/relationships/font" Target="fonts/Montserrat-boldItalic.fntdata"/><Relationship Id="rId20" Type="http://customschemas.google.com/relationships/presentationmetadata" Target="metadata"/><Relationship Id="rId21" Type="http://schemas.openxmlformats.org/officeDocument/2006/relationships/slide" Target="slides/slide3.xml"/><Relationship Id="rId22" Type="http://schemas.openxmlformats.org/officeDocument/2006/relationships/slide" Target="slides/slide6.xml"/><Relationship Id="rId2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8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8:notes"/>
          <p:cNvSpPr/>
          <p:nvPr>
            <p:ph idx="2" type="sldImg"/>
          </p:nvPr>
        </p:nvSpPr>
        <p:spPr>
          <a:xfrm>
            <a:off x="367712" y="685800"/>
            <a:ext cx="6123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/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30"/>
          <p:cNvSpPr txBox="1"/>
          <p:nvPr>
            <p:ph idx="1" type="subTitle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3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1"/>
          <p:cNvSpPr txBox="1"/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1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2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32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32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33"/>
          <p:cNvSpPr txBox="1"/>
          <p:nvPr>
            <p:ph idx="1" type="body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33"/>
          <p:cNvSpPr txBox="1"/>
          <p:nvPr>
            <p:ph idx="2" type="body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33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4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4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5"/>
          <p:cNvSpPr txBox="1"/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5"/>
          <p:cNvSpPr txBox="1"/>
          <p:nvPr>
            <p:ph idx="1" type="body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5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6"/>
          <p:cNvSpPr txBox="1"/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6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7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7"/>
          <p:cNvSpPr txBox="1"/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7"/>
          <p:cNvSpPr txBox="1"/>
          <p:nvPr>
            <p:ph idx="1" type="subTitle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7"/>
          <p:cNvSpPr txBox="1"/>
          <p:nvPr>
            <p:ph idx="2" type="body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7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8"/>
          <p:cNvSpPr txBox="1"/>
          <p:nvPr>
            <p:ph idx="1" type="body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8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9"/>
          <p:cNvSpPr txBox="1"/>
          <p:nvPr>
            <p:ph hasCustomPrompt="1" type="title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9"/>
          <p:cNvSpPr txBox="1"/>
          <p:nvPr>
            <p:ph idx="1" type="body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0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/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9"/>
          <p:cNvSpPr txBox="1"/>
          <p:nvPr>
            <p:ph idx="1" type="body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9"/>
          <p:cNvSpPr txBox="1"/>
          <p:nvPr>
            <p:ph idx="12" type="sldNum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sz="1600">
                <a:solidFill>
                  <a:schemeClr val="lt1"/>
                </a:solidFill>
                <a:latin typeface="Montserrat"/>
              </a:rPr>
              <a:t>Кейс №2: Пенсионный фонд</a:t>
            </a:r>
            <a:endParaRPr b="0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r>
              <a:rPr sz="1600">
                <a:solidFill>
                  <a:schemeClr val="lt1"/>
                </a:solidFill>
                <a:latin typeface="Montserrat"/>
              </a:rPr>
              <a:t>Команда №8</a:t>
            </a: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</a:pPr>
            <a:r>
              <a:rPr b="1" sz="3000">
                <a:solidFill>
                  <a:schemeClr val="lt1"/>
                </a:solidFill>
                <a:latin typeface="Montserrat"/>
              </a:rPr>
              <a:t>Прогнозирование оценки пользователя мобильного приложения</a:t>
            </a:r>
            <a:endParaRPr b="1" i="0" sz="3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</a:pPr>
            <a:r>
              <a:rPr b="1" sz="2800">
                <a:solidFill>
                  <a:srgbClr val="123194"/>
                </a:solidFill>
                <a:latin typeface="Montserrat"/>
              </a:rPr>
              <a:t>О проекте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368550" y="1239497"/>
            <a:ext cx="8167800" cy="16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</a:pPr>
            <a:r>
              <a:rPr sz="1500">
                <a:solidFill>
                  <a:srgbClr val="000000"/>
                </a:solidFill>
                <a:latin typeface="Montserrat"/>
              </a:rPr>
              <a:t>Пенсионный фонд активно развивает цифровые сервисы для своих клиентов. Мобильное приложение — ключевой канал взаимодействия с пользователями. Цель проекта — проанализировать факторы, влияющие на удовлетворённость пользователей (CSAT), и подготовить данные для построения прогнозной модели оценки.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</a:pPr>
            <a:r>
              <a:rPr b="1" sz="2800">
                <a:solidFill>
                  <a:srgbClr val="123194"/>
                </a:solidFill>
                <a:latin typeface="Montserrat"/>
              </a:rPr>
              <a:t>Данные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368550" y="1239497"/>
            <a:ext cx="8167800" cy="16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</a:pPr>
            <a:r>
              <a:rPr sz="1500">
                <a:solidFill>
                  <a:srgbClr val="000000"/>
                </a:solidFill>
                <a:latin typeface="Montserrat"/>
              </a:rPr>
              <a:t>Датасет содержит 42 387 записей с 9 признаками: идентификатор пользователя, даты создания и ответа на опрос, язык, возрастная группа, пол, стаж (tenure_years), доход и целевая переменная csat_level (оценка 1-5). В ходе предобработки исправлено 18 400 записей с перепутанными датами и заполнено 6 826 пропусков в языке.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628" y="4493079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8"/>
          <p:cNvSpPr txBox="1"/>
          <p:nvPr/>
        </p:nvSpPr>
        <p:spPr>
          <a:xfrm>
            <a:off x="327624" y="593398"/>
            <a:ext cx="81678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</a:pPr>
            <a:r>
              <a:rPr sz="3000">
                <a:solidFill>
                  <a:srgbClr val="123194"/>
                </a:solidFill>
                <a:latin typeface="Montserrat"/>
              </a:rPr>
              <a:t>Средняя оценка пользователей — 4.1 из 5. Пользователи в целом довольны приложением.</a:t>
            </a:r>
            <a:endParaRPr b="0" i="0" sz="30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0"/>
          <p:cNvSpPr/>
          <p:nvPr/>
        </p:nvSpPr>
        <p:spPr>
          <a:xfrm>
            <a:off x="13125" y="-9549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628" y="4493079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0"/>
          <p:cNvSpPr txBox="1"/>
          <p:nvPr/>
        </p:nvSpPr>
        <p:spPr>
          <a:xfrm>
            <a:off x="340866" y="384361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</a:pPr>
            <a:r>
              <a:rPr b="1" sz="2800">
                <a:solidFill>
                  <a:schemeClr val="lt1"/>
                </a:solidFill>
                <a:latin typeface="Montserrat"/>
              </a:rPr>
              <a:t>Проверенные гипотезы</a:t>
            </a:r>
            <a:endParaRPr b="1" i="0" sz="2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" name="Google Shape;85;p20"/>
          <p:cNvSpPr txBox="1"/>
          <p:nvPr/>
        </p:nvSpPr>
        <p:spPr>
          <a:xfrm>
            <a:off x="281039" y="1151253"/>
            <a:ext cx="81678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03200" marL="406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</a:pPr>
            <a:r>
              <a:rPr sz="2000">
                <a:solidFill>
                  <a:schemeClr val="lt1"/>
                </a:solidFill>
                <a:latin typeface="Montserrat"/>
              </a:rPr>
              <a:t>Пользователи с высоким доходом ставят более низкие оценки</a:t>
            </a:r>
            <a:endParaRPr b="0" i="0" sz="2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06400" indent="-203200" algn="l">
              <a:spcBef>
                <a:spcPts val="1800"/>
              </a:spcBef>
              <a:buChar char="•"/>
            </a:pPr>
            <a:r>
              <a:rPr sz="2000">
                <a:solidFill>
                  <a:schemeClr val="lt1"/>
                </a:solidFill>
                <a:latin typeface="Montserrat"/>
              </a:rPr>
              <a:t>Старшие возрастные группы более лояльны (4.3 vs 4.1)</a:t>
            </a:r>
          </a:p>
          <a:p>
            <a:pPr marL="406400" indent="-203200" algn="l">
              <a:spcBef>
                <a:spcPts val="1800"/>
              </a:spcBef>
              <a:buChar char="•"/>
            </a:pPr>
            <a:r>
              <a:rPr sz="2000">
                <a:solidFill>
                  <a:schemeClr val="lt1"/>
                </a:solidFill>
                <a:latin typeface="Montserrat"/>
              </a:rPr>
              <a:t>Время суток влияет на оценку: утро — 4.16, ночь — 4.08</a:t>
            </a:r>
          </a:p>
          <a:p>
            <a:pPr marL="406400" indent="-203200" algn="l">
              <a:spcBef>
                <a:spcPts val="1800"/>
              </a:spcBef>
              <a:buChar char="•"/>
            </a:pPr>
            <a:r>
              <a:rPr sz="2000">
                <a:solidFill>
                  <a:schemeClr val="lt1"/>
                </a:solidFill>
                <a:latin typeface="Montserrat"/>
              </a:rPr>
              <a:t>Обнаружен эффект взаимодействия возраста и дохода</a:t>
            </a:r>
          </a:p>
        </p:txBody>
      </p:sp>
      <p:pic>
        <p:nvPicPr>
          <p:cNvPr id="86" name="Google Shape;8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16984" y="2755723"/>
            <a:ext cx="2023175" cy="2070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</a:pPr>
            <a:r>
              <a:rPr b="1" sz="2800">
                <a:solidFill>
                  <a:srgbClr val="123194"/>
                </a:solidFill>
                <a:latin typeface="Montserrat"/>
              </a:rPr>
              <a:t>Ключевые выводы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368550" y="1239497"/>
            <a:ext cx="8167800" cy="16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</a:pPr>
            <a:r>
              <a:rPr sz="1500">
                <a:solidFill>
                  <a:srgbClr val="000000"/>
                </a:solidFill>
                <a:latin typeface="Montserrat"/>
              </a:rPr>
              <a:t>Все гипотезы подтверждены статистически (p &lt; 0.001), но практический размер эффекта незначителен. Возраст и доход — ключевые предикторы, особенно их взаимодействие: пожилые пользователи с низким доходом наиболее лояльны (4.31), а с высоким — наименее (3.92). Для ML-модели рекомендуется использовать комбинированные признаки.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</a:pPr>
            <a:r>
              <a:rPr b="1" sz="2800">
                <a:solidFill>
                  <a:srgbClr val="123194"/>
                </a:solidFill>
                <a:latin typeface="Montserrat"/>
              </a:rPr>
              <a:t>Интерактивный дашборд</a:t>
            </a:r>
            <a:endParaRPr b="1" i="0" sz="2800" u="none" cap="none" strike="noStrike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368550" y="1239497"/>
            <a:ext cx="8167800" cy="16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</a:pPr>
            <a:r>
              <a:rPr sz="1500">
                <a:solidFill>
                  <a:srgbClr val="000000"/>
                </a:solidFill>
                <a:latin typeface="Montserrat"/>
              </a:rPr>
              <a:t>Разработан дашборд на Gradio с интерактивными графиками Plotly. Функции: загрузка CSV-файла, автоматическая очистка данных (исправление дат, заполнение пропусков), визуализация распределений по категориям, анализ зависимости CSAT от возраста, пола и дохода. Дашборд готов к развертыванию на gradio.app.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8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Google Shape;14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8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buNone/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</a:pPr>
            <a:r>
              <a:rPr b="1" sz="4000">
                <a:solidFill>
                  <a:schemeClr val="lt1"/>
                </a:solidFill>
                <a:latin typeface="Montserrat"/>
              </a:rPr>
              <a:t>Спасибо за внимание!</a:t>
            </a:r>
            <a:endParaRPr b="1" i="0" sz="40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4" name="Google Shape;144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58314" y="956815"/>
            <a:ext cx="443865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