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5040000" cx="9000000"/>
  <p:notesSz cx="6858000" cy="9144000"/>
  <p:embeddedFontLst>
    <p:embeddedFont>
      <p:font typeface="Montserrat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289">
          <p15:clr>
            <a:srgbClr val="747775"/>
          </p15:clr>
        </p15:guide>
        <p15:guide id="2" orient="horz" pos="3028">
          <p15:clr>
            <a:srgbClr val="747775"/>
          </p15:clr>
        </p15:guide>
        <p15:guide id="3" orient="horz" pos="534">
          <p15:clr>
            <a:srgbClr val="747775"/>
          </p15:clr>
        </p15:guide>
        <p15:guide id="4" orient="horz" pos="843">
          <p15:clr>
            <a:srgbClr val="747775"/>
          </p15:clr>
        </p15:guide>
        <p15:guide id="5" orient="horz" pos="28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9"/>
        <p:guide pos="3028" orient="horz"/>
        <p:guide pos="534" orient="horz"/>
        <p:guide pos="843" orient="horz"/>
        <p:guide pos="28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Montserrat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Montserrat-italic.fntdata"/><Relationship Id="rId25" Type="http://schemas.openxmlformats.org/officeDocument/2006/relationships/font" Target="fonts/Montserrat-bold.fntdata"/><Relationship Id="rId27" Type="http://schemas.openxmlformats.org/officeDocument/2006/relationships/font" Target="fonts/Montserrat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b2eed14ad6_0_0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g3b2eed14ad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3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7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b2eed14ad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g3b2eed14ad6_0_65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b2eed14ad6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g3b2eed14ad6_0_75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6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b2eed14ad6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g3b2eed14ad6_0_125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b2eed14ad6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g3b2eed14ad6_0_131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b2eed14ad6_0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g3b2eed14ad6_0_137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b2eed14ad6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g3b2eed14ad6_0_99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b2eed14ad6_0_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g3b2eed14ad6_0_162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b2eed14ad6_0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g3b2eed14ad6_0_172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b2eed14ad6_0_1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Модель без балансировки будет предсказывать "5" почти всем (69% выборки) и получит высокую accuracy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Но при этом пропустит недовольных клиентов, а именно они важны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</a:rPr>
              <a:t>F1-macro - </a:t>
            </a:r>
            <a:r>
              <a:rPr lang="en-US">
                <a:solidFill>
                  <a:schemeClr val="dk1"/>
                </a:solidFill>
              </a:rPr>
              <a:t>Среднее по классам - Все классы равноважны. Класс 1 важен не меньше класса 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</a:rPr>
              <a:t>Recall "1" - </a:t>
            </a:r>
            <a:r>
              <a:rPr lang="en-US">
                <a:solidFill>
                  <a:schemeClr val="dk1"/>
                </a:solidFill>
              </a:rPr>
              <a:t>Не пропускать недовольных - &gt; 70%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g3b2eed14ad6_0_187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06800" y="729592"/>
            <a:ext cx="8386500" cy="2011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06791" y="2777095"/>
            <a:ext cx="8386500" cy="77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06791" y="2107570"/>
            <a:ext cx="8386500" cy="8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06791" y="1129284"/>
            <a:ext cx="8386500" cy="33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06791" y="1129284"/>
            <a:ext cx="3936900" cy="33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756299" y="1129284"/>
            <a:ext cx="3936900" cy="33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06791" y="544420"/>
            <a:ext cx="2763900" cy="740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06791" y="1361638"/>
            <a:ext cx="2763900" cy="31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82530" y="441092"/>
            <a:ext cx="6267600" cy="40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00000" y="-122"/>
            <a:ext cx="4500000" cy="504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1319" y="1208360"/>
            <a:ext cx="3981600" cy="14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1319" y="2746670"/>
            <a:ext cx="3981600" cy="12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861713" y="709505"/>
            <a:ext cx="3776700" cy="362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06791" y="4145445"/>
            <a:ext cx="5904300" cy="59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06791" y="1083867"/>
            <a:ext cx="8386500" cy="192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06791" y="3088794"/>
            <a:ext cx="8386500" cy="127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06791" y="1129284"/>
            <a:ext cx="8386500" cy="33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jpg"/><Relationship Id="rId4" Type="http://schemas.openxmlformats.org/officeDocument/2006/relationships/image" Target="../media/image21.png"/><Relationship Id="rId5" Type="http://schemas.openxmlformats.org/officeDocument/2006/relationships/image" Target="../media/image18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huggingface.co/spaces/RefugeeSPb/team-8-case-2" TargetMode="External"/><Relationship Id="rId4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Relationship Id="rId4" Type="http://schemas.openxmlformats.org/officeDocument/2006/relationships/image" Target="../media/image1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0" y="0"/>
            <a:ext cx="9000000" cy="5040000"/>
          </a:xfrm>
          <a:prstGeom prst="rect">
            <a:avLst/>
          </a:prstGeom>
          <a:solidFill>
            <a:srgbClr val="12319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348858" y="3853497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Кейс №2: Пенсионный фонд</a:t>
            </a:r>
            <a:endParaRPr b="0" i="0" sz="16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Команда №8</a:t>
            </a:r>
            <a:endParaRPr/>
          </a:p>
        </p:txBody>
      </p:sp>
      <p:pic>
        <p:nvPicPr>
          <p:cNvPr id="56" name="Google Shape;56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29623" y="156412"/>
            <a:ext cx="847909" cy="415398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337836" y="357677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00"/>
              <a:buFont typeface="Arial"/>
              <a:buNone/>
            </a:pPr>
            <a:r>
              <a:rPr b="1" i="0" lang="en-US" sz="3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Прогнозирование оценки пользователя мобильного приложения</a:t>
            </a:r>
            <a:endParaRPr b="1" i="0" sz="30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8" name="Google Shape;58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27305" y="793440"/>
            <a:ext cx="5270740" cy="914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/>
        </p:nvSpPr>
        <p:spPr>
          <a:xfrm>
            <a:off x="368558" y="284682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Команда проек</a:t>
            </a:r>
            <a:r>
              <a:rPr b="1" lang="en-US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ного практикума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68553" y="2891108"/>
            <a:ext cx="2721300" cy="185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-US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Смирнов Максим Григорьевич</a:t>
            </a:r>
            <a:endParaRPr b="1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sz="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-"/>
            </a:pPr>
            <a:r>
              <a:rPr i="1" lang="en-U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Полный цикл предобработки данных и EDA</a:t>
            </a:r>
            <a:endParaRPr i="1"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-"/>
            </a:pPr>
            <a:r>
              <a:rPr i="1" lang="en-U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Формулировка и проверка статистических гипотез</a:t>
            </a:r>
            <a:endParaRPr i="1"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-"/>
            </a:pPr>
            <a:r>
              <a:rPr i="1" lang="en-U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Архитектура репозитория и версионирование</a:t>
            </a:r>
            <a:endParaRPr i="1"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i="1"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3234055" y="2891104"/>
            <a:ext cx="2721300" cy="189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-US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Никулин Кирилл Андреевич</a:t>
            </a:r>
            <a:endParaRPr i="1" sz="1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-"/>
            </a:pPr>
            <a:r>
              <a:rPr i="1" lang="en-U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Визуализация данных и поддержка EDA</a:t>
            </a:r>
            <a:endParaRPr i="1"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-"/>
            </a:pPr>
            <a:r>
              <a:rPr i="1" lang="en-U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Разработка и развёртывание интерактивного дашборда на Gradio</a:t>
            </a:r>
            <a:endParaRPr i="1"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6099557" y="2930212"/>
            <a:ext cx="2721300" cy="185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-US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Ожерельева Ольга Игоревна</a:t>
            </a:r>
            <a:endParaRPr i="1" sz="1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sz="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-"/>
            </a:pPr>
            <a:r>
              <a:rPr i="1" lang="en-U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Бизнес-интерпретация результатов</a:t>
            </a:r>
            <a:endParaRPr i="1"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-"/>
            </a:pPr>
            <a:r>
              <a:rPr i="1" lang="en-U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Гипотезы для продуктовых решений</a:t>
            </a:r>
            <a:endParaRPr i="1"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-"/>
            </a:pPr>
            <a:r>
              <a:rPr i="1" lang="en-U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Подготовка презентации и представление команды на защита проекта</a:t>
            </a:r>
            <a:endParaRPr i="1"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7" name="Google Shape;67;p14" title="photo_2024-03-10_07-06-14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39979" y="999405"/>
            <a:ext cx="1728842" cy="1728842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60200" y="990978"/>
            <a:ext cx="1671247" cy="1745709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4" title="photo_2025-08-29_16-56-21.jpg"/>
          <p:cNvPicPr preferRelativeResize="0"/>
          <p:nvPr/>
        </p:nvPicPr>
        <p:blipFill rotWithShape="1">
          <a:blip r:embed="rId5">
            <a:alphaModFix/>
          </a:blip>
          <a:srcRect b="3505" l="0" r="0" t="3496"/>
          <a:stretch/>
        </p:blipFill>
        <p:spPr>
          <a:xfrm>
            <a:off x="611565" y="999402"/>
            <a:ext cx="1858971" cy="17288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О проекте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5" name="Google Shape;75;p15"/>
          <p:cNvSpPr txBox="1"/>
          <p:nvPr/>
        </p:nvSpPr>
        <p:spPr>
          <a:xfrm>
            <a:off x="2360700" y="782075"/>
            <a:ext cx="6444600" cy="25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1200">
                <a:latin typeface="Montserrat"/>
                <a:ea typeface="Montserrat"/>
                <a:cs typeface="Montserrat"/>
                <a:sym typeface="Montserrat"/>
              </a:rPr>
              <a:t>Компания</a:t>
            </a:r>
            <a:endParaRPr b="1" sz="12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200">
                <a:latin typeface="Montserrat"/>
                <a:ea typeface="Montserrat"/>
                <a:cs typeface="Montserrat"/>
                <a:sym typeface="Montserrat"/>
              </a:rPr>
              <a:t>Пенсионный фонд, предоставляющий клиентам цифровые сервисы для управления пенсионными накоплениями</a:t>
            </a:r>
            <a:endParaRPr sz="12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2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1200">
                <a:latin typeface="Montserrat"/>
                <a:ea typeface="Montserrat"/>
                <a:cs typeface="Montserrat"/>
                <a:sym typeface="Montserrat"/>
              </a:rPr>
              <a:t>Продукт и проблема продукта</a:t>
            </a:r>
            <a:br>
              <a:rPr lang="en-US" sz="1200">
                <a:latin typeface="Montserrat"/>
                <a:ea typeface="Montserrat"/>
                <a:cs typeface="Montserrat"/>
                <a:sym typeface="Montserrat"/>
              </a:rPr>
            </a:br>
            <a:r>
              <a:rPr b="0" i="0" lang="en-US" sz="12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Мобильное приложение фонда, которое позволяет пользователям получать персональную информацию, оформлять услуги и отслеживать пенсионные выплаты</a:t>
            </a:r>
            <a:r>
              <a:rPr lang="en-US" sz="1200"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sz="12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2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Часть пользователей недовольны приложением и ставят низкие оценки, оставляют жалобы.</a:t>
            </a:r>
            <a:endParaRPr b="0" i="0" sz="12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6" name="Google Shape;7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4950" y="907650"/>
            <a:ext cx="2006525" cy="2271325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5"/>
          <p:cNvSpPr txBox="1"/>
          <p:nvPr/>
        </p:nvSpPr>
        <p:spPr>
          <a:xfrm>
            <a:off x="304075" y="3236875"/>
            <a:ext cx="8247900" cy="1612200"/>
          </a:xfrm>
          <a:prstGeom prst="rect">
            <a:avLst/>
          </a:prstGeom>
          <a:solidFill>
            <a:srgbClr val="123194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Цели проекта</a:t>
            </a:r>
            <a:r>
              <a:rPr lang="en-US" sz="1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3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ontserrat"/>
              <a:buAutoNum type="arabicPeriod"/>
            </a:pPr>
            <a:r>
              <a:rPr lang="en-US" sz="1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Проанализировать факторы, влияющие на удовлетворённость пользователей (CSAT)</a:t>
            </a:r>
            <a:endParaRPr sz="13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ontserrat"/>
              <a:buAutoNum type="arabicPeriod"/>
            </a:pPr>
            <a:r>
              <a:rPr lang="en-US" sz="1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Подготовить данные для построения прогнозной модели оценки</a:t>
            </a:r>
            <a:endParaRPr sz="13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ontserrat"/>
              <a:buAutoNum type="arabicPeriod"/>
            </a:pPr>
            <a:r>
              <a:rPr lang="en-US" sz="1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Дать рекомендации для бизнеса на основании анализа</a:t>
            </a:r>
            <a:endParaRPr sz="13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Описание данных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" name="Google Shape;83;p16"/>
          <p:cNvSpPr txBox="1"/>
          <p:nvPr/>
        </p:nvSpPr>
        <p:spPr>
          <a:xfrm>
            <a:off x="339575" y="1007778"/>
            <a:ext cx="8167800" cy="9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15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Датасет содержит 42 387 записей с 9 признаками: идентификатор пользователя</a:t>
            </a:r>
            <a:r>
              <a:rPr lang="en-US" sz="1500"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0" i="0" lang="en-US" sz="15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даты создания и ответа на опрос, язык, возрастная группа, пол, стаж, доход и целевая переменная - оценк</a:t>
            </a:r>
            <a:r>
              <a:rPr lang="en-US" sz="1500">
                <a:latin typeface="Montserrat"/>
                <a:ea typeface="Montserrat"/>
                <a:cs typeface="Montserrat"/>
                <a:sym typeface="Montserrat"/>
              </a:rPr>
              <a:t>а от 1 до 5 (</a:t>
            </a:r>
            <a:r>
              <a:rPr b="0" i="0" lang="en-US" sz="15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csat_level)</a:t>
            </a:r>
            <a:r>
              <a:rPr lang="en-US" sz="1500"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4" name="Google Shape;8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8525" y="1996500"/>
            <a:ext cx="1990975" cy="228315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6"/>
          <p:cNvSpPr txBox="1"/>
          <p:nvPr/>
        </p:nvSpPr>
        <p:spPr>
          <a:xfrm>
            <a:off x="3063100" y="2020350"/>
            <a:ext cx="5553300" cy="2008800"/>
          </a:xfrm>
          <a:prstGeom prst="rect">
            <a:avLst/>
          </a:prstGeom>
          <a:solidFill>
            <a:srgbClr val="123194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1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В ходе первичного анализа данных было выявлено </a:t>
            </a:r>
            <a:r>
              <a:rPr b="1" lang="en-US" sz="1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несколько проблем:</a:t>
            </a:r>
            <a:endParaRPr b="1" sz="15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Montserrat"/>
              <a:buAutoNum type="arabicPeriod"/>
            </a:pPr>
            <a:r>
              <a:rPr lang="en-US" sz="1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Пропуски в данных о доходе пользователей, о языке и о возрасте</a:t>
            </a:r>
            <a:endParaRPr sz="15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Montserrat"/>
              <a:buAutoNum type="arabicPeriod"/>
            </a:pPr>
            <a:r>
              <a:rPr lang="en-US" sz="1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Отрицательное SLA ответа (время ответа раньше, чем время поступления вопроса от пользователя)</a:t>
            </a:r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Интерактивный дашборд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1" name="Google Shape;91;p17"/>
          <p:cNvSpPr txBox="1"/>
          <p:nvPr/>
        </p:nvSpPr>
        <p:spPr>
          <a:xfrm>
            <a:off x="368550" y="912425"/>
            <a:ext cx="8167800" cy="24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15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Разработан дашборд на Gradio с интерактивными графиками Plotly. </a:t>
            </a:r>
            <a:endParaRPr b="0" i="0" sz="15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15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Функции: </a:t>
            </a:r>
            <a:endParaRPr b="0" i="0" sz="15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"/>
              <a:buChar char="●"/>
            </a:pPr>
            <a:r>
              <a:rPr b="0" i="0" lang="en-US" sz="15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загрузка CSV-файла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"/>
              <a:buChar char="●"/>
            </a:pPr>
            <a:r>
              <a:rPr b="0" i="0" lang="en-US" sz="15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автоматическая очистка данных (исправление дат, заполнение пропусков)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"/>
              <a:buChar char="●"/>
            </a:pPr>
            <a:r>
              <a:rPr b="0" i="0" lang="en-US" sz="15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визуализация распределений по категориям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"/>
              <a:buChar char="●"/>
            </a:pPr>
            <a:r>
              <a:rPr b="0" i="0" lang="en-US" sz="15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анализ зависимости CSAT от возраста, пола и дохода</a:t>
            </a:r>
            <a:endParaRPr b="0" i="0" sz="15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latin typeface="Montserrat"/>
                <a:ea typeface="Montserrat"/>
                <a:cs typeface="Montserrat"/>
                <a:sym typeface="Montserrat"/>
              </a:rPr>
              <a:t>Дашборд доступен по </a:t>
            </a:r>
            <a:r>
              <a:rPr lang="en-US" sz="15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ссылке</a:t>
            </a:r>
            <a:endParaRPr b="0" i="0" sz="15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2" name="Google Shape;92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35175" y="3346400"/>
            <a:ext cx="2061850" cy="164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Обработка пропусков в данных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8" name="Google Shape;98;p18"/>
          <p:cNvSpPr txBox="1"/>
          <p:nvPr/>
        </p:nvSpPr>
        <p:spPr>
          <a:xfrm>
            <a:off x="5829300" y="1203550"/>
            <a:ext cx="2787300" cy="31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Пропуски в доходах</a:t>
            </a:r>
            <a:r>
              <a:rPr lang="en-US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в количестве ~24.5 % от общего количества данных решили исключить из анализа, так как их заполнение может исказить результаты.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Пропуски в языке </a:t>
            </a:r>
            <a:r>
              <a:rPr lang="en-US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заполнили значением RU, так как все остальные значения одинаковы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Пропуски в возрасте</a:t>
            </a:r>
            <a:r>
              <a:rPr lang="en-US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оставили без изменений 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9" name="Google Shape;9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4125" y="1203402"/>
            <a:ext cx="5578499" cy="3177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Обработка отрицательного SLA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5" name="Google Shape;105;p19"/>
          <p:cNvSpPr txBox="1"/>
          <p:nvPr/>
        </p:nvSpPr>
        <p:spPr>
          <a:xfrm>
            <a:off x="317850" y="978825"/>
            <a:ext cx="8350200" cy="172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Таких строк оказалось 18400, это 43.4% данных.</a:t>
            </a:r>
            <a:r>
              <a:rPr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Было принято решение поменять местами время ответа и время отправки вопроса. </a:t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После манипуляций поменялось общее распределение SLA, однако распределение оценок не изменилось. </a:t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6" name="Google Shape;10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4425" y="2354124"/>
            <a:ext cx="2821693" cy="259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47125" y="2354125"/>
            <a:ext cx="2944601" cy="2590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9"/>
          <p:cNvSpPr txBox="1"/>
          <p:nvPr/>
        </p:nvSpPr>
        <p:spPr>
          <a:xfrm>
            <a:off x="5583100" y="2635875"/>
            <a:ext cx="3541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2"/>
                </a:solidFill>
              </a:rPr>
              <a:t>до         после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628" y="4493079"/>
            <a:ext cx="847909" cy="415398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0"/>
          <p:cNvSpPr txBox="1"/>
          <p:nvPr/>
        </p:nvSpPr>
        <p:spPr>
          <a:xfrm>
            <a:off x="327625" y="130350"/>
            <a:ext cx="8167800" cy="43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Средняя оценка пользователей — 4.1 из 5</a:t>
            </a:r>
            <a:endParaRPr b="1" i="0" sz="30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sz="300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1" sz="300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sz="300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sz="300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sz="300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5" name="Google Shape;115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0525" y="1226975"/>
            <a:ext cx="5290476" cy="306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0"/>
          <p:cNvSpPr txBox="1"/>
          <p:nvPr/>
        </p:nvSpPr>
        <p:spPr>
          <a:xfrm>
            <a:off x="5829300" y="1203550"/>
            <a:ext cx="2787300" cy="31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Однако самые негативные оценки ставят чаще средних</a:t>
            </a:r>
            <a:endParaRPr b="1"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chemeClr val="dk1"/>
                </a:solidFill>
              </a:rPr>
              <a:t>↓</a:t>
            </a:r>
            <a:endParaRPr b="1" sz="3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Направляем гипотезы на поиск драйверов негатива</a:t>
            </a:r>
            <a:endParaRPr b="1"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1"/>
          <p:cNvSpPr/>
          <p:nvPr/>
        </p:nvSpPr>
        <p:spPr>
          <a:xfrm>
            <a:off x="13125" y="-9549"/>
            <a:ext cx="9000000" cy="5040000"/>
          </a:xfrm>
          <a:prstGeom prst="rect">
            <a:avLst/>
          </a:prstGeom>
          <a:solidFill>
            <a:srgbClr val="12319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" name="Google Shape;12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628" y="4493079"/>
            <a:ext cx="847909" cy="415398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1"/>
          <p:cNvSpPr txBox="1"/>
          <p:nvPr/>
        </p:nvSpPr>
        <p:spPr>
          <a:xfrm>
            <a:off x="340866" y="384361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Г</a:t>
            </a:r>
            <a:r>
              <a:rPr b="1" i="0" lang="en-US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ипотезы</a:t>
            </a:r>
            <a:endParaRPr b="1" i="0" sz="28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4" name="Google Shape;124;p21"/>
          <p:cNvSpPr txBox="1"/>
          <p:nvPr/>
        </p:nvSpPr>
        <p:spPr>
          <a:xfrm>
            <a:off x="281039" y="1151253"/>
            <a:ext cx="8167800" cy="3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Montserrat"/>
              <a:buAutoNum type="arabicPeriod"/>
            </a:pPr>
            <a:r>
              <a:rPr b="0" i="0" lang="en-US" sz="2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Пользователи с высоким доходом ставят более низкие оценки</a:t>
            </a:r>
            <a:endParaRPr sz="2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55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Montserrat"/>
              <a:buAutoNum type="arabicPeriod"/>
            </a:pPr>
            <a:r>
              <a:rPr b="0" i="0" lang="en-US" sz="2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Старшие возрастные группы более лояльны</a:t>
            </a:r>
            <a:endParaRPr/>
          </a:p>
          <a:p>
            <a:pPr indent="-355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Montserrat"/>
              <a:buAutoNum type="arabicPeriod"/>
            </a:pPr>
            <a:r>
              <a:rPr b="0" i="0" lang="en-US" sz="2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Время суток влияет на оценку</a:t>
            </a:r>
            <a:endParaRPr/>
          </a:p>
          <a:p>
            <a:pPr indent="-355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Montserrat"/>
              <a:buAutoNum type="arabicPeriod"/>
            </a:pPr>
            <a:r>
              <a:rPr lang="en-US" sz="2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Старшие возрастные группы с высоким доходом оценивают приложение ниже</a:t>
            </a:r>
            <a:endParaRPr sz="2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5" name="Google Shape;125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6625" y="3625475"/>
            <a:ext cx="1253525" cy="12830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/>
          <p:nvPr/>
        </p:nvSpPr>
        <p:spPr>
          <a:xfrm>
            <a:off x="368550" y="285099"/>
            <a:ext cx="8247900" cy="92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Гипотеза  №1: Высокий доход → Низкая оценка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1" name="Google Shape;131;p22"/>
          <p:cNvSpPr txBox="1"/>
          <p:nvPr/>
        </p:nvSpPr>
        <p:spPr>
          <a:xfrm>
            <a:off x="4040675" y="1166075"/>
            <a:ext cx="46923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Montserrat"/>
              <a:buChar char="●"/>
            </a:pPr>
            <a:r>
              <a:rPr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Доля негативных оценок растёт с 13% до 19% с уровнем дохода</a:t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Montserrat"/>
              <a:buChar char="●"/>
            </a:pPr>
            <a:r>
              <a:rPr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Доля максимальных оценок падает с 72% до 62% с уровнем дохода</a:t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Montserrat"/>
              <a:buChar char="●"/>
            </a:pPr>
            <a:r>
              <a:rPr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Слабая отрицательная корреляция -0.076 </a:t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Для подтверждения использовался тест ранговой корреляции Спирмена. </a:t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✔ p-value &lt; 0.05, статистически значима</a:t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2" name="Google Shape;132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775" y="1282150"/>
            <a:ext cx="3830374" cy="2665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3"/>
          <p:cNvSpPr txBox="1"/>
          <p:nvPr/>
        </p:nvSpPr>
        <p:spPr>
          <a:xfrm>
            <a:off x="368550" y="285099"/>
            <a:ext cx="8247900" cy="92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Гипотеза  №2: </a:t>
            </a:r>
            <a:r>
              <a:rPr b="1" lang="en-US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Старше возраст → Выше оценка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8" name="Google Shape;138;p23"/>
          <p:cNvSpPr txBox="1"/>
          <p:nvPr/>
        </p:nvSpPr>
        <p:spPr>
          <a:xfrm>
            <a:off x="4040675" y="1166075"/>
            <a:ext cx="46923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Слабая положительная корреляция 0.046</a:t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Для подтверждения использовался </a:t>
            </a:r>
            <a:r>
              <a:rPr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Критерий Краскела-Уоллиса.</a:t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✔ p-value &lt; 0.05, статистически значима</a:t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9" name="Google Shape;13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61800"/>
            <a:ext cx="3854075" cy="271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4"/>
          <p:cNvSpPr txBox="1"/>
          <p:nvPr/>
        </p:nvSpPr>
        <p:spPr>
          <a:xfrm>
            <a:off x="368550" y="285099"/>
            <a:ext cx="8247900" cy="92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Гипотеза  №3: </a:t>
            </a:r>
            <a:r>
              <a:rPr b="1" lang="en-US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Утром оценки лучше, чем вечером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4040675" y="1166075"/>
            <a:ext cx="46923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Утро (6-12): средняя оценка 4.197</a:t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Вечер (18-0): средняя оценка 3.990</a:t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Разница 0.207 - самая большая среди временных паттернов</a:t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Для подтверждения использовался Критерий Краскела-Уоллиса.</a:t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✔ p &lt; 0.05, статистически значима</a:t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46" name="Google Shape;14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5850" y="1282150"/>
            <a:ext cx="3810800" cy="2707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/>
        </p:nvSpPr>
        <p:spPr>
          <a:xfrm>
            <a:off x="368550" y="285099"/>
            <a:ext cx="8247900" cy="92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Гипотеза  №4: </a:t>
            </a:r>
            <a:r>
              <a:rPr b="1" lang="en-US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Эффект взаимодействия возраста и дохода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2" name="Google Shape;152;p25"/>
          <p:cNvSpPr txBox="1"/>
          <p:nvPr/>
        </p:nvSpPr>
        <p:spPr>
          <a:xfrm>
            <a:off x="1578625" y="1296425"/>
            <a:ext cx="7255800" cy="223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Гипотеза с самым высоким приоритетом!</a:t>
            </a:r>
            <a:endParaRPr b="1"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Старшие (35-64 года) + высокий доход (3748 человек) - это ключевая целевая аудитория пенсионного фонда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Для подтверждения использовался Критерий Краскела-Уоллиса.</a:t>
            </a:r>
            <a:r>
              <a:rPr lang="en-US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✔ p &lt; 0.05, статистически значима</a:t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53" name="Google Shape;153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4650" y="1368925"/>
            <a:ext cx="1250650" cy="3272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44825" y="3123600"/>
            <a:ext cx="5076826" cy="1778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6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Ключевые в</a:t>
            </a:r>
            <a:r>
              <a:rPr b="1" i="0" lang="en-US" sz="2800" u="none" cap="none" strike="noStrik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ыводы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0" name="Google Shape;160;p26"/>
          <p:cNvSpPr txBox="1"/>
          <p:nvPr/>
        </p:nvSpPr>
        <p:spPr>
          <a:xfrm>
            <a:off x="368550" y="890700"/>
            <a:ext cx="8167800" cy="20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500">
                <a:latin typeface="Montserrat"/>
                <a:ea typeface="Montserrat"/>
                <a:cs typeface="Montserrat"/>
                <a:sym typeface="Montserrat"/>
              </a:rPr>
              <a:t>Сегмент пользователей </a:t>
            </a:r>
            <a:r>
              <a:rPr b="1" lang="en-US" sz="1500">
                <a:latin typeface="Montserrat"/>
                <a:ea typeface="Montserrat"/>
                <a:cs typeface="Montserrat"/>
                <a:sym typeface="Montserrat"/>
              </a:rPr>
              <a:t>35-64 года с высоким доходом</a:t>
            </a:r>
            <a:r>
              <a:rPr lang="en-US" sz="1500">
                <a:latin typeface="Montserrat"/>
                <a:ea typeface="Montserrat"/>
                <a:cs typeface="Montserrat"/>
                <a:sym typeface="Montserrat"/>
              </a:rPr>
              <a:t> (3748 человек) - это </a:t>
            </a:r>
            <a:r>
              <a:rPr b="1" lang="en-US" sz="1500">
                <a:latin typeface="Montserrat"/>
                <a:ea typeface="Montserrat"/>
                <a:cs typeface="Montserrat"/>
                <a:sym typeface="Montserrat"/>
              </a:rPr>
              <a:t>ключевая целевая аудитория </a:t>
            </a:r>
            <a:r>
              <a:rPr lang="en-US" sz="1500">
                <a:latin typeface="Montserrat"/>
                <a:ea typeface="Montserrat"/>
                <a:cs typeface="Montserrat"/>
                <a:sym typeface="Montserrat"/>
              </a:rPr>
              <a:t>пенсионного фонда: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"/>
              <a:buChar char="●"/>
            </a:pPr>
            <a:r>
              <a:rPr lang="en-US" sz="1500">
                <a:latin typeface="Montserrat"/>
                <a:ea typeface="Montserrat"/>
                <a:cs typeface="Montserrat"/>
                <a:sym typeface="Montserrat"/>
              </a:rPr>
              <a:t>Они активно планируют пенсию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"/>
              <a:buChar char="●"/>
            </a:pPr>
            <a:r>
              <a:rPr lang="en-US" sz="1500">
                <a:latin typeface="Montserrat"/>
                <a:ea typeface="Montserrat"/>
                <a:cs typeface="Montserrat"/>
                <a:sym typeface="Montserrat"/>
              </a:rPr>
              <a:t>Имеют деньги для допродаж (НПФ, инвестиции)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"/>
              <a:buChar char="●"/>
            </a:pPr>
            <a:r>
              <a:rPr lang="en-US" sz="1500">
                <a:latin typeface="Montserrat"/>
                <a:ea typeface="Montserrat"/>
                <a:cs typeface="Montserrat"/>
                <a:sym typeface="Montserrat"/>
              </a:rPr>
              <a:t>Но они как раз и самые недовольные (3,88 vs 4,30 у самых лояльных)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1500">
                <a:latin typeface="Montserrat"/>
                <a:ea typeface="Montserrat"/>
                <a:cs typeface="Montserrat"/>
                <a:sym typeface="Montserrat"/>
              </a:rPr>
              <a:t>Разрыв в 0,41 балла - это критическая проблема.</a:t>
            </a:r>
            <a:endParaRPr b="1"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1" name="Google Shape;161;p26"/>
          <p:cNvSpPr txBox="1"/>
          <p:nvPr/>
        </p:nvSpPr>
        <p:spPr>
          <a:xfrm>
            <a:off x="458800" y="3010400"/>
            <a:ext cx="8014200" cy="1796700"/>
          </a:xfrm>
          <a:prstGeom prst="rect">
            <a:avLst/>
          </a:prstGeom>
          <a:solidFill>
            <a:srgbClr val="123194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1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Почему так может быть:</a:t>
            </a:r>
            <a:endParaRPr b="1" sz="15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1" sz="15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Montserrat"/>
              <a:buChar char="●"/>
            </a:pPr>
            <a:r>
              <a:rPr lang="en-US" sz="1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Высокие ожидания от продукта</a:t>
            </a:r>
            <a:endParaRPr sz="15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Montserrat"/>
              <a:buChar char="●"/>
            </a:pPr>
            <a:r>
              <a:rPr lang="en-US" sz="1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Используют сложные сценарии (расчёт пенсии, прогнозирование)</a:t>
            </a:r>
            <a:endParaRPr sz="15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Montserrat"/>
              <a:buChar char="●"/>
            </a:pPr>
            <a:r>
              <a:rPr lang="en-US" sz="1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Сравнивают с современными банковскими приложениями</a:t>
            </a:r>
            <a:endParaRPr sz="15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Montserrat"/>
              <a:buChar char="●"/>
            </a:pPr>
            <a:r>
              <a:rPr lang="en-US" sz="1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Ценят своё время, а приложение не оптимизировано</a:t>
            </a:r>
            <a:endParaRPr sz="15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1"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7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Рекомендации для бизнеса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7" name="Google Shape;167;p27"/>
          <p:cNvSpPr txBox="1"/>
          <p:nvPr/>
        </p:nvSpPr>
        <p:spPr>
          <a:xfrm>
            <a:off x="3714825" y="926900"/>
            <a:ext cx="4821600" cy="3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"/>
              <a:buChar char="●"/>
            </a:pPr>
            <a:r>
              <a:rPr lang="en-US" sz="1500">
                <a:latin typeface="Montserrat"/>
                <a:ea typeface="Montserrat"/>
                <a:cs typeface="Montserrat"/>
                <a:sym typeface="Montserrat"/>
              </a:rPr>
              <a:t>Провести интервью с ключевым сегментом и проанализировать его пользовательский путь - где у пользователей возникают проблемы?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"/>
              <a:buChar char="●"/>
            </a:pPr>
            <a:r>
              <a:rPr lang="en-US" sz="1500">
                <a:latin typeface="Montserrat"/>
                <a:ea typeface="Montserrat"/>
                <a:cs typeface="Montserrat"/>
                <a:sym typeface="Montserrat"/>
              </a:rPr>
              <a:t>Приоритизировать разработку новых фичей под их потребности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"/>
              <a:buChar char="●"/>
            </a:pPr>
            <a:r>
              <a:rPr lang="en-US" sz="1500">
                <a:latin typeface="Montserrat"/>
                <a:ea typeface="Montserrat"/>
                <a:cs typeface="Montserrat"/>
                <a:sym typeface="Montserrat"/>
              </a:rPr>
              <a:t>Рассмотреть "премиум" опыт (быстрые пути, персональная поддержка) - всё, что может сэкономить их время и улучшить опыт взаимодействия с приложением.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8" name="Google Shape;168;p27"/>
          <p:cNvSpPr txBox="1"/>
          <p:nvPr/>
        </p:nvSpPr>
        <p:spPr>
          <a:xfrm>
            <a:off x="458800" y="2005800"/>
            <a:ext cx="3219900" cy="1028400"/>
          </a:xfrm>
          <a:prstGeom prst="rect">
            <a:avLst/>
          </a:prstGeom>
          <a:solidFill>
            <a:srgbClr val="123194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Для ключевого сегмента пользователей </a:t>
            </a:r>
            <a:r>
              <a:rPr b="1" lang="en-US" sz="1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35-64 года с высоким доходом</a:t>
            </a:r>
            <a:endParaRPr sz="15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1"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8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Рекомендации для бизнеса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4" name="Google Shape;174;p28"/>
          <p:cNvSpPr txBox="1"/>
          <p:nvPr/>
        </p:nvSpPr>
        <p:spPr>
          <a:xfrm>
            <a:off x="3714825" y="926900"/>
            <a:ext cx="4901700" cy="39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"/>
              <a:buChar char="●"/>
            </a:pPr>
            <a:r>
              <a:rPr lang="en-US" sz="1500">
                <a:latin typeface="Montserrat"/>
                <a:ea typeface="Montserrat"/>
                <a:cs typeface="Montserrat"/>
                <a:sym typeface="Montserrat"/>
              </a:rPr>
              <a:t>Упростить базовые сценарии, не перегружать функциями, чтобы пожилые смогли самостоятельно разобраться в приложении, не привлекая молодёжь. 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"/>
              <a:buChar char="●"/>
            </a:pPr>
            <a:r>
              <a:rPr lang="en-US" sz="1500">
                <a:latin typeface="Montserrat"/>
                <a:ea typeface="Montserrat"/>
                <a:cs typeface="Montserrat"/>
                <a:sym typeface="Montserrat"/>
              </a:rPr>
              <a:t>В выборке большой дисбаланс женщин и мужчин, возможно, женщины не видят ценности продукта. Провести UX-исследования.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"/>
              <a:buChar char="●"/>
            </a:pPr>
            <a:r>
              <a:rPr lang="en-US" sz="1500">
                <a:latin typeface="Montserrat"/>
                <a:ea typeface="Montserrat"/>
                <a:cs typeface="Montserrat"/>
                <a:sym typeface="Montserrat"/>
              </a:rPr>
              <a:t>Отправлять опросы в утренние часы (6-12 часов), в утренние часы оценивают в среднем чуть выше и, возможно, объективнее. 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5" name="Google Shape;175;p28"/>
          <p:cNvSpPr txBox="1"/>
          <p:nvPr/>
        </p:nvSpPr>
        <p:spPr>
          <a:xfrm>
            <a:off x="368550" y="1998600"/>
            <a:ext cx="3306600" cy="1042800"/>
          </a:xfrm>
          <a:prstGeom prst="rect">
            <a:avLst/>
          </a:prstGeom>
          <a:solidFill>
            <a:srgbClr val="123194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Дополнительно, по результатам EDA и проверки гипотез</a:t>
            </a:r>
            <a:endParaRPr sz="15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1"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9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Рекомендации для ML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1" name="Google Shape;181;p29"/>
          <p:cNvSpPr txBox="1"/>
          <p:nvPr/>
        </p:nvSpPr>
        <p:spPr>
          <a:xfrm>
            <a:off x="3714825" y="926900"/>
            <a:ext cx="4901700" cy="402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Montserrat"/>
              <a:buChar char="●"/>
            </a:pPr>
            <a:r>
              <a:rPr lang="en-US" sz="1300">
                <a:latin typeface="Montserrat"/>
                <a:ea typeface="Montserrat"/>
                <a:cs typeface="Montserrat"/>
                <a:sym typeface="Montserrat"/>
              </a:rPr>
              <a:t>Бинарная классификация «негатив vs позитив»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Montserrat"/>
              <a:buChar char="●"/>
            </a:pPr>
            <a:r>
              <a:rPr lang="en-US" sz="1300">
                <a:latin typeface="Montserrat"/>
                <a:ea typeface="Montserrat"/>
                <a:cs typeface="Montserrat"/>
                <a:sym typeface="Montserrat"/>
              </a:rPr>
              <a:t>Используем комбинированный признак «возраст × доход»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Montserrat"/>
              <a:buChar char="●"/>
            </a:pPr>
            <a:r>
              <a:rPr lang="en-US" sz="1300">
                <a:latin typeface="Montserrat"/>
                <a:ea typeface="Montserrat"/>
                <a:cs typeface="Montserrat"/>
                <a:sym typeface="Montserrat"/>
              </a:rPr>
              <a:t>Балансируем классы и фокусируемся на негативных оценках (жертвуем общей точностью ради обнаружения редких, но важных случаев)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Montserrat"/>
              <a:buChar char="●"/>
            </a:pPr>
            <a:r>
              <a:rPr lang="en-US" sz="1300">
                <a:latin typeface="Montserrat"/>
                <a:ea typeface="Montserrat"/>
                <a:cs typeface="Montserrat"/>
                <a:sym typeface="Montserrat"/>
              </a:rPr>
              <a:t>Метрики: F1-macro (баланс по всем классам) + Recall негативных оценок (не пропустить недовольного клиента важнее, чем не побеспокоить довольного)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Montserrat"/>
              <a:buChar char="●"/>
            </a:pPr>
            <a:r>
              <a:rPr lang="en-US" sz="1300">
                <a:latin typeface="Montserrat"/>
                <a:ea typeface="Montserrat"/>
                <a:cs typeface="Montserrat"/>
                <a:sym typeface="Montserrat"/>
              </a:rPr>
              <a:t>Рекомендуемые модели: </a:t>
            </a:r>
            <a:r>
              <a:rPr b="1" lang="en-US" sz="1300">
                <a:latin typeface="Montserrat"/>
                <a:ea typeface="Montserrat"/>
                <a:cs typeface="Montserrat"/>
                <a:sym typeface="Montserrat"/>
              </a:rPr>
              <a:t>CatBoost / LightGBM</a:t>
            </a:r>
            <a:r>
              <a:rPr lang="en-US" sz="1300">
                <a:latin typeface="Montserrat"/>
                <a:ea typeface="Montserrat"/>
                <a:cs typeface="Montserrat"/>
                <a:sym typeface="Montserrat"/>
              </a:rPr>
              <a:t> (работают с категориями)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2" name="Google Shape;182;p29"/>
          <p:cNvSpPr txBox="1"/>
          <p:nvPr/>
        </p:nvSpPr>
        <p:spPr>
          <a:xfrm>
            <a:off x="368550" y="1998600"/>
            <a:ext cx="3306600" cy="1042800"/>
          </a:xfrm>
          <a:prstGeom prst="rect">
            <a:avLst/>
          </a:prstGeom>
          <a:solidFill>
            <a:srgbClr val="123194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П</a:t>
            </a:r>
            <a:r>
              <a:rPr b="1" lang="en-US" sz="1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о результатам предобработки данных и EDA</a:t>
            </a:r>
            <a:endParaRPr sz="15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1"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0"/>
          <p:cNvSpPr/>
          <p:nvPr/>
        </p:nvSpPr>
        <p:spPr>
          <a:xfrm>
            <a:off x="0" y="0"/>
            <a:ext cx="9000000" cy="5040000"/>
          </a:xfrm>
          <a:prstGeom prst="rect">
            <a:avLst/>
          </a:prstGeom>
          <a:solidFill>
            <a:srgbClr val="12319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8" name="Google Shape;188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488" y="4491378"/>
            <a:ext cx="847909" cy="415398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30"/>
          <p:cNvSpPr txBox="1"/>
          <p:nvPr/>
        </p:nvSpPr>
        <p:spPr>
          <a:xfrm>
            <a:off x="348864" y="633388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5700"/>
              <a:buFont typeface="Arial"/>
              <a:buNone/>
            </a:pPr>
            <a:r>
              <a:rPr b="1" i="0" lang="en-US" sz="4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Спасибо за внимание!</a:t>
            </a:r>
            <a:endParaRPr b="1" i="0" sz="40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90" name="Google Shape;190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28276" y="1338276"/>
            <a:ext cx="4257950" cy="3965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